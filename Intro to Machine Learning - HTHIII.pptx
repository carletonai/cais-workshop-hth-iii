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Carleton AI Society logo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7620000" y="1498600"/>
            <a:ext cx="3759200" cy="3714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189359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CARLETON AI SOCIETY · HTH III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812800" y="2360910"/>
            <a:ext cx="6540500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150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 to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spc="-150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spc="-150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Learning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 code: github.com/carletonai/cais-workshop-hth-iii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2800" y="2870200"/>
            <a:ext cx="711200" cy="63500"/>
          </a:xfrm>
          <a:prstGeom prst="roundRect">
            <a:avLst>
              <a:gd name="adj" fmla="val 50000"/>
            </a:avLst>
          </a:prstGeom>
          <a:solidFill>
            <a:srgbClr val="E2383F"/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3187700"/>
            <a:ext cx="58864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150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Introduction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75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Learning goals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1992511"/>
            <a:ext cx="10566400" cy="0"/>
          </a:xfrm>
          <a:prstGeom prst="line">
            <a:avLst/>
          </a:prstGeom>
          <a:noFill/>
          <a:ln w="12700">
            <a:solidFill>
              <a:srgbClr val="2C33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2227461"/>
            <a:ext cx="660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27200" y="2227461"/>
            <a:ext cx="99415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about the general field of AI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12800" y="2779911"/>
            <a:ext cx="10566400" cy="0"/>
          </a:xfrm>
          <a:prstGeom prst="line">
            <a:avLst/>
          </a:prstGeom>
          <a:noFill/>
          <a:ln w="12700">
            <a:solidFill>
              <a:srgbClr val="2C33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3014861"/>
            <a:ext cx="660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727200" y="3014861"/>
            <a:ext cx="99415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about AI problems and techniques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733550" y="3491111"/>
            <a:ext cx="1554857" cy="33774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35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92300" y="3560961"/>
            <a:ext cx="128815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AI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02707" y="3491111"/>
            <a:ext cx="2700139" cy="33774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3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61457" y="3560961"/>
            <a:ext cx="245411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Machine Learning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146" y="3491111"/>
            <a:ext cx="2618184" cy="33774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3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75896" y="3560961"/>
            <a:ext cx="236970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Neural Networks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2800" y="4070152"/>
            <a:ext cx="10566400" cy="0"/>
          </a:xfrm>
          <a:prstGeom prst="line">
            <a:avLst/>
          </a:prstGeom>
          <a:noFill/>
          <a:ln w="12700">
            <a:solidFill>
              <a:srgbClr val="2C334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2800" y="4857552"/>
            <a:ext cx="10566400" cy="0"/>
          </a:xfrm>
          <a:prstGeom prst="line">
            <a:avLst/>
          </a:prstGeom>
          <a:noFill/>
          <a:ln w="12700">
            <a:solidFill>
              <a:srgbClr val="2C334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2800" y="4305102"/>
            <a:ext cx="660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727200" y="4305102"/>
            <a:ext cx="99415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how to apply these techniques and concepts </a:t>
            </a:r>
            <a:r>
              <a:rPr lang="en-US" sz="2000" b="1" dirty="0">
                <a:solidFill>
                  <a:srgbClr val="FF3D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(with live demos)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43725" y="1216025"/>
            <a:ext cx="4425950" cy="4425950"/>
          </a:xfrm>
          <a:prstGeom prst="roundRect">
            <a:avLst>
              <a:gd name="adj" fmla="val 36514"/>
            </a:avLst>
          </a:prstGeom>
          <a:solidFill>
            <a:srgbClr val="FFFFFF">
              <a:alpha val="2000"/>
            </a:srgbClr>
          </a:solidFill>
          <a:ln w="19050">
            <a:solidFill>
              <a:srgbClr val="3A435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578725" y="2359025"/>
            <a:ext cx="3155950" cy="3155950"/>
          </a:xfrm>
          <a:prstGeom prst="roundRect">
            <a:avLst>
              <a:gd name="adj" fmla="val 50000"/>
            </a:avLst>
          </a:prstGeom>
          <a:solidFill>
            <a:srgbClr val="77E2F8">
              <a:alpha val="6000"/>
            </a:srgbClr>
          </a:solidFill>
          <a:ln w="19050">
            <a:solidFill>
              <a:srgbClr val="77E2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13725" y="3527425"/>
            <a:ext cx="1885950" cy="1885950"/>
          </a:xfrm>
          <a:prstGeom prst="roundRect">
            <a:avLst>
              <a:gd name="adj" fmla="val 50000"/>
            </a:avLst>
          </a:prstGeom>
          <a:solidFill>
            <a:srgbClr val="A90F14"/>
          </a:solidFill>
          <a:ln w="19050">
            <a:solidFill>
              <a:srgbClr val="E238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6980" y="1689100"/>
            <a:ext cx="31394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7DF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48600" y="2705100"/>
            <a:ext cx="2616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77E2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41030" y="4229100"/>
            <a:ext cx="183134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04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Neural</a:t>
            </a:r>
            <a:endParaRPr lang="en-US" sz="1600" dirty="0"/>
          </a:p>
          <a:p>
            <a:pPr algn="ctr" indent="0" marL="0">
              <a:lnSpc>
                <a:spcPts val="1904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networks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12800" y="2870200"/>
            <a:ext cx="711200" cy="63500"/>
          </a:xfrm>
          <a:prstGeom prst="roundRect">
            <a:avLst>
              <a:gd name="adj" fmla="val 50000"/>
            </a:avLst>
          </a:prstGeom>
          <a:solidFill>
            <a:srgbClr val="E2383F"/>
          </a:solidFill>
          <a:ln/>
        </p:spPr>
      </p:sp>
      <p:sp>
        <p:nvSpPr>
          <p:cNvPr id="10" name="Text 7"/>
          <p:cNvSpPr/>
          <p:nvPr/>
        </p:nvSpPr>
        <p:spPr>
          <a:xfrm>
            <a:off x="812800" y="3187700"/>
            <a:ext cx="58864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150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is AI?</a:t>
            </a:r>
            <a:endParaRPr 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AI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75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 to AI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25500" y="3196530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4900" y="3075880"/>
            <a:ext cx="45391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Very broad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5500" y="3780730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00" y="3660080"/>
            <a:ext cx="453910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 systems (IF-ELSE statements)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5500" y="4720530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4900" y="4599880"/>
            <a:ext cx="45391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to implement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127750" y="2595959"/>
            <a:ext cx="5245100" cy="2839442"/>
          </a:xfrm>
          <a:prstGeom prst="roundRect">
            <a:avLst>
              <a:gd name="adj" fmla="val 5144"/>
            </a:avLst>
          </a:prstGeom>
          <a:solidFill>
            <a:srgbClr val="0B0E16"/>
          </a:solidFill>
          <a:ln w="12700">
            <a:solidFill>
              <a:srgbClr val="262D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34100" y="3075980"/>
            <a:ext cx="5232400" cy="0"/>
          </a:xfrm>
          <a:prstGeom prst="line">
            <a:avLst/>
          </a:prstGeom>
          <a:noFill/>
          <a:ln w="12700">
            <a:solidFill>
              <a:srgbClr val="262D3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37300" y="278517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E2383F"/>
          </a:solidFill>
          <a:ln/>
        </p:spPr>
      </p:sp>
      <p:sp>
        <p:nvSpPr>
          <p:cNvPr id="14" name="Shape 11"/>
          <p:cNvSpPr/>
          <p:nvPr/>
        </p:nvSpPr>
        <p:spPr>
          <a:xfrm>
            <a:off x="6515100" y="278517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A4358"/>
          </a:solidFill>
          <a:ln/>
        </p:spPr>
      </p:sp>
      <p:sp>
        <p:nvSpPr>
          <p:cNvPr id="15" name="Shape 12"/>
          <p:cNvSpPr/>
          <p:nvPr/>
        </p:nvSpPr>
        <p:spPr>
          <a:xfrm>
            <a:off x="6692900" y="278517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A4358"/>
          </a:solidFill>
          <a:ln/>
        </p:spPr>
      </p:sp>
      <p:sp>
        <p:nvSpPr>
          <p:cNvPr id="16" name="Text 13"/>
          <p:cNvSpPr/>
          <p:nvPr/>
        </p:nvSpPr>
        <p:spPr>
          <a:xfrm>
            <a:off x="6870700" y="2729309"/>
            <a:ext cx="782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rules.py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88100" y="3310930"/>
            <a:ext cx="4866132" cy="191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60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ejection_fraction &lt; </a:t>
            </a:r>
            <a:r>
              <a:rPr lang="en-US" sz="1600" dirty="0">
                <a:solidFill>
                  <a:srgbClr val="77E2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r>
              <a:rPr lang="en-US" sz="160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risk = </a:t>
            </a:r>
            <a:r>
              <a:rPr lang="en-US" sz="1600" dirty="0">
                <a:solidFill>
                  <a:srgbClr val="D7D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"HIGH"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elif</a:t>
            </a:r>
            <a:r>
              <a:rPr lang="en-US" sz="160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serum_creatinine &gt; </a:t>
            </a:r>
            <a:r>
              <a:rPr lang="en-US" sz="1600" dirty="0">
                <a:solidFill>
                  <a:srgbClr val="77E2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1.5</a:t>
            </a:r>
            <a:r>
              <a:rPr lang="en-US" sz="160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risk = </a:t>
            </a:r>
            <a:r>
              <a:rPr lang="en-US" sz="1600" dirty="0">
                <a:solidFill>
                  <a:srgbClr val="D7D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"HIGH"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else</a:t>
            </a:r>
            <a:r>
              <a:rPr lang="en-US" sz="160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risk = </a:t>
            </a:r>
            <a:r>
              <a:rPr lang="en-US" sz="1600" dirty="0">
                <a:solidFill>
                  <a:srgbClr val="D7D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"low"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80846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01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227578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150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1st code demo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3329880"/>
            <a:ext cx="85026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 system: hand-written IF-ELSE rules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19150" y="3920430"/>
            <a:ext cx="6972300" cy="1122660"/>
          </a:xfrm>
          <a:prstGeom prst="roundRect">
            <a:avLst>
              <a:gd name="adj" fmla="val 13009"/>
            </a:avLst>
          </a:prstGeom>
          <a:solidFill>
            <a:srgbClr val="0B0E16"/>
          </a:solidFill>
          <a:ln w="12700">
            <a:solidFill>
              <a:srgbClr val="262D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5500" y="4314130"/>
            <a:ext cx="6959600" cy="0"/>
          </a:xfrm>
          <a:prstGeom prst="line">
            <a:avLst/>
          </a:prstGeom>
          <a:noFill/>
          <a:ln w="12700">
            <a:solidFill>
              <a:srgbClr val="262D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28700" y="406648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E2383F"/>
          </a:solidFill>
          <a:ln/>
        </p:spPr>
      </p:sp>
      <p:sp>
        <p:nvSpPr>
          <p:cNvPr id="9" name="Shape 6"/>
          <p:cNvSpPr/>
          <p:nvPr/>
        </p:nvSpPr>
        <p:spPr>
          <a:xfrm>
            <a:off x="1206500" y="406648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A4358"/>
          </a:solidFill>
          <a:ln/>
        </p:spPr>
      </p:sp>
      <p:sp>
        <p:nvSpPr>
          <p:cNvPr id="10" name="Shape 7"/>
          <p:cNvSpPr/>
          <p:nvPr/>
        </p:nvSpPr>
        <p:spPr>
          <a:xfrm>
            <a:off x="1384300" y="406648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A4358"/>
          </a:solidFill>
          <a:ln/>
        </p:spPr>
      </p:sp>
      <p:sp>
        <p:nvSpPr>
          <p:cNvPr id="11" name="Text 8"/>
          <p:cNvSpPr/>
          <p:nvPr/>
        </p:nvSpPr>
        <p:spPr>
          <a:xfrm>
            <a:off x="1079500" y="453638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41140" y="4536380"/>
            <a:ext cx="326503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demo1_rule_based.py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2 · ML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75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 learning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25500" y="2640310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4900" y="2557760"/>
            <a:ext cx="4539107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upon rule-based systems: instead of hand-writing the rules, it learns them from data (system evolves over time)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500" y="367149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00" y="3588941"/>
            <a:ext cx="4539107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Usually, make a prediction, calculate the loss (how wrong it was) and minimize it (for supervised learning)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5500" y="470267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4900" y="4620121"/>
            <a:ext cx="4539107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 of ML: Logistic/Linear regression, Decision trees (for classification and regression)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27750" y="2764830"/>
            <a:ext cx="5245100" cy="2501702"/>
          </a:xfrm>
          <a:prstGeom prst="roundRect">
            <a:avLst>
              <a:gd name="adj" fmla="val 5838"/>
            </a:avLst>
          </a:prstGeom>
          <a:solidFill>
            <a:srgbClr val="1B2030"/>
          </a:solidFill>
          <a:ln w="12700">
            <a:solidFill>
              <a:srgbClr val="2C33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38900" y="3075980"/>
            <a:ext cx="4761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RULE-BASED · DEMO 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45250" y="3422650"/>
            <a:ext cx="795734" cy="434280"/>
          </a:xfrm>
          <a:prstGeom prst="roundRect">
            <a:avLst>
              <a:gd name="adj" fmla="val 19008"/>
            </a:avLst>
          </a:prstGeom>
          <a:solidFill>
            <a:srgbClr val="0B0E16"/>
          </a:solidFill>
          <a:ln w="12700">
            <a:solidFill>
              <a:srgbClr val="3A43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16700" y="3517900"/>
            <a:ext cx="503634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48934" y="3497560"/>
            <a:ext cx="18524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91326" y="3422650"/>
            <a:ext cx="884833" cy="434280"/>
          </a:xfrm>
          <a:prstGeom prst="roundRect">
            <a:avLst>
              <a:gd name="adj" fmla="val 19008"/>
            </a:avLst>
          </a:prstGeom>
          <a:solidFill>
            <a:srgbClr val="0B0E16"/>
          </a:solidFill>
          <a:ln w="12700">
            <a:solidFill>
              <a:srgbClr val="3A435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62776" y="3517900"/>
            <a:ext cx="592733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</a:t>
            </a:r>
            <a:endParaRPr lang="en-US" sz="1600" dirty="0"/>
          </a:p>
        </p:txBody>
      </p:sp>
      <p:pic>
        <p:nvPicPr>
          <p:cNvPr id="1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84109" y="3588941"/>
            <a:ext cx="508000" cy="1016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200059" y="3422650"/>
            <a:ext cx="1206698" cy="434280"/>
          </a:xfrm>
          <a:prstGeom prst="roundRect">
            <a:avLst>
              <a:gd name="adj" fmla="val 19008"/>
            </a:avLst>
          </a:prstGeom>
          <a:solidFill>
            <a:srgbClr val="0B0E16"/>
          </a:solidFill>
          <a:ln w="12700">
            <a:solidFill>
              <a:srgbClr val="77E2F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371509" y="3517900"/>
            <a:ext cx="914598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38900" y="4168080"/>
            <a:ext cx="4761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MACHINE LEARNING · DEMO 2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45250" y="4514751"/>
            <a:ext cx="795734" cy="434280"/>
          </a:xfrm>
          <a:prstGeom prst="roundRect">
            <a:avLst>
              <a:gd name="adj" fmla="val 19008"/>
            </a:avLst>
          </a:prstGeom>
          <a:solidFill>
            <a:srgbClr val="0B0E16"/>
          </a:solidFill>
          <a:ln w="12700">
            <a:solidFill>
              <a:srgbClr val="3A435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616700" y="4610001"/>
            <a:ext cx="503634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348934" y="4589661"/>
            <a:ext cx="18524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591326" y="4514751"/>
            <a:ext cx="1206698" cy="434280"/>
          </a:xfrm>
          <a:prstGeom prst="roundRect">
            <a:avLst>
              <a:gd name="adj" fmla="val 19008"/>
            </a:avLst>
          </a:prstGeom>
          <a:solidFill>
            <a:srgbClr val="0B0E16"/>
          </a:solidFill>
          <a:ln w="12700">
            <a:solidFill>
              <a:srgbClr val="3A435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762776" y="4610001"/>
            <a:ext cx="914598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</a:t>
            </a:r>
            <a:endParaRPr lang="en-US" sz="1600" dirty="0"/>
          </a:p>
        </p:txBody>
      </p:sp>
      <p:pic>
        <p:nvPicPr>
          <p:cNvPr id="27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05974" y="4681041"/>
            <a:ext cx="508000" cy="10160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9521924" y="4514751"/>
            <a:ext cx="884833" cy="434280"/>
          </a:xfrm>
          <a:prstGeom prst="roundRect">
            <a:avLst>
              <a:gd name="adj" fmla="val 19008"/>
            </a:avLst>
          </a:prstGeom>
          <a:solidFill>
            <a:srgbClr val="A90F14"/>
          </a:solidFill>
          <a:ln w="12700">
            <a:solidFill>
              <a:srgbClr val="E2383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693374" y="4610001"/>
            <a:ext cx="592733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2 · ML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27720"/>
            <a:ext cx="1088339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75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Supervised Machine Learning: Training, testing, validation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25500" y="2571552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4900" y="2489002"/>
            <a:ext cx="1058252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Normally you have a labelled dataset and want to create a model to learn from that dataset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500" y="2983012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00" y="2900462"/>
            <a:ext cx="1058252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data into train/valid/test sets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5500" y="3394472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4900" y="3311922"/>
            <a:ext cx="1058252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might not turn out great (iterative process)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5500" y="3805932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04900" y="3723382"/>
            <a:ext cx="1058252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techniques to make sure your model doesn’t overfit/underfit (regularization, batch normalization, increase/decrease model parameters, hyperparameter tuning)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9150" y="5284589"/>
            <a:ext cx="5961360" cy="754261"/>
          </a:xfrm>
          <a:prstGeom prst="roundRect">
            <a:avLst>
              <a:gd name="adj" fmla="val 12628"/>
            </a:avLst>
          </a:prstGeom>
          <a:solidFill>
            <a:srgbClr val="223442"/>
          </a:solidFill>
          <a:ln w="12700">
            <a:solidFill>
              <a:srgbClr val="77E2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3300" y="5430639"/>
            <a:ext cx="57608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7E2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TRAIN · 60%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3300" y="5694759"/>
            <a:ext cx="576085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learns from this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44010" y="5284589"/>
            <a:ext cx="2232720" cy="754261"/>
          </a:xfrm>
          <a:prstGeom prst="roundRect">
            <a:avLst>
              <a:gd name="adj" fmla="val 12628"/>
            </a:avLst>
          </a:prstGeom>
          <a:solidFill>
            <a:srgbClr val="262D3F"/>
          </a:solidFill>
          <a:ln w="12700">
            <a:solidFill>
              <a:srgbClr val="3A435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28160" y="5430639"/>
            <a:ext cx="19203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 · 20%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028160" y="5694759"/>
            <a:ext cx="192035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tune settings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140230" y="5284589"/>
            <a:ext cx="2232620" cy="754261"/>
          </a:xfrm>
          <a:prstGeom prst="roundRect">
            <a:avLst>
              <a:gd name="adj" fmla="val 12628"/>
            </a:avLst>
          </a:prstGeom>
          <a:solidFill>
            <a:srgbClr val="A90F14"/>
          </a:solidFill>
          <a:ln w="12700">
            <a:solidFill>
              <a:srgbClr val="E2383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24380" y="5430639"/>
            <a:ext cx="192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· 20%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24380" y="5694759"/>
            <a:ext cx="192025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exam, used once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80846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02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227578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150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2nd code demo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3329880"/>
            <a:ext cx="85026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off the 1st one: now the computer learns the rules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19150" y="3920430"/>
            <a:ext cx="6972300" cy="1122660"/>
          </a:xfrm>
          <a:prstGeom prst="roundRect">
            <a:avLst>
              <a:gd name="adj" fmla="val 13009"/>
            </a:avLst>
          </a:prstGeom>
          <a:solidFill>
            <a:srgbClr val="0B0E16"/>
          </a:solidFill>
          <a:ln w="12700">
            <a:solidFill>
              <a:srgbClr val="262D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5500" y="4314130"/>
            <a:ext cx="6959600" cy="0"/>
          </a:xfrm>
          <a:prstGeom prst="line">
            <a:avLst/>
          </a:prstGeom>
          <a:noFill/>
          <a:ln w="12700">
            <a:solidFill>
              <a:srgbClr val="262D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28700" y="406648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E2383F"/>
          </a:solidFill>
          <a:ln/>
        </p:spPr>
      </p:sp>
      <p:sp>
        <p:nvSpPr>
          <p:cNvPr id="9" name="Shape 6"/>
          <p:cNvSpPr/>
          <p:nvPr/>
        </p:nvSpPr>
        <p:spPr>
          <a:xfrm>
            <a:off x="1206500" y="406648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A4358"/>
          </a:solidFill>
          <a:ln/>
        </p:spPr>
      </p:sp>
      <p:sp>
        <p:nvSpPr>
          <p:cNvPr id="10" name="Shape 7"/>
          <p:cNvSpPr/>
          <p:nvPr/>
        </p:nvSpPr>
        <p:spPr>
          <a:xfrm>
            <a:off x="1384300" y="406648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A4358"/>
          </a:solidFill>
          <a:ln/>
        </p:spPr>
      </p:sp>
      <p:sp>
        <p:nvSpPr>
          <p:cNvPr id="11" name="Text 8"/>
          <p:cNvSpPr/>
          <p:nvPr/>
        </p:nvSpPr>
        <p:spPr>
          <a:xfrm>
            <a:off x="1079500" y="453638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41140" y="4536380"/>
            <a:ext cx="40185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demo2_machine_learning.py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3 · NEURAL NETWORKS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75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Artificial Neural Networks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25500" y="3209230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4900" y="3126680"/>
            <a:ext cx="453910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Loosely inspired by neurons in the biological brain (not an actual simulation of it)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500" y="395595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00" y="3873401"/>
            <a:ext cx="453910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machine learning to update weights/values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5500" y="470267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4900" y="4620121"/>
            <a:ext cx="453910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same principles as ML (subset)</a:t>
            </a:r>
            <a:endParaRPr lang="en-US" sz="1600" dirty="0"/>
          </a:p>
        </p:txBody>
      </p:sp>
      <p:pic>
        <p:nvPicPr>
          <p:cNvPr id="11" name="Image 1" descr="One artificial neuron: three inputs are weighted, summed and passed through an activation to give one outpu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1400" y="2364680"/>
            <a:ext cx="5257800" cy="3302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1400" y="2364680"/>
            <a:ext cx="313944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spc="150" kern="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ARTIFICIAL NEURON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70600" y="3018730"/>
            <a:ext cx="16002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070600" y="4034730"/>
            <a:ext cx="16002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ejection fraction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070600" y="5050730"/>
            <a:ext cx="16002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creatinine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407400" y="3126680"/>
            <a:ext cx="431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77E2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10550" y="3837880"/>
            <a:ext cx="431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77E2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407400" y="4942780"/>
            <a:ext cx="431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77E2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w3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144000" y="3825180"/>
            <a:ext cx="812800" cy="66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04"/>
              </a:lnSpc>
              <a:buNone/>
            </a:pPr>
            <a:r>
              <a:rPr lang="en-US" sz="3600" dirty="0">
                <a:solidFill>
                  <a:srgbClr val="77E2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Σ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8953500" y="4866580"/>
            <a:ext cx="11938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sum</a:t>
            </a:r>
            <a:endParaRPr lang="en-US" sz="120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activation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528300" y="4333180"/>
            <a:ext cx="685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3 · NEURAL NETWORKS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75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Activation functions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25500" y="206871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4900" y="1986161"/>
            <a:ext cx="1058252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Determines how neurons fire/activate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500" y="248017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00" y="2397621"/>
            <a:ext cx="1058252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because they add non-linearity: without them, stacking layers is still just one linear model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19150" y="3633688"/>
            <a:ext cx="3373934" cy="2405162"/>
          </a:xfrm>
          <a:prstGeom prst="roundRect">
            <a:avLst>
              <a:gd name="adj" fmla="val 5016"/>
            </a:avLst>
          </a:prstGeom>
          <a:solidFill>
            <a:srgbClr val="1B2030"/>
          </a:solidFill>
          <a:ln w="12700">
            <a:solidFill>
              <a:srgbClr val="2C3346"/>
            </a:solidFill>
            <a:prstDash val="solid"/>
          </a:ln>
        </p:spPr>
      </p:sp>
      <p:pic>
        <p:nvPicPr>
          <p:cNvPr id="10" name="Image 1" descr="ReLU curv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8700" y="3843238"/>
            <a:ext cx="2921000" cy="1079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8700" y="5011638"/>
            <a:ext cx="304347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ReLU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28700" y="5344319"/>
            <a:ext cx="304347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7E2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max(0, x)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28700" y="5631259"/>
            <a:ext cx="304347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0 to ∞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08984" y="3633688"/>
            <a:ext cx="3374033" cy="2405162"/>
          </a:xfrm>
          <a:prstGeom prst="roundRect">
            <a:avLst>
              <a:gd name="adj" fmla="val 5016"/>
            </a:avLst>
          </a:prstGeom>
          <a:solidFill>
            <a:srgbClr val="1B2030"/>
          </a:solidFill>
          <a:ln w="12700">
            <a:solidFill>
              <a:srgbClr val="2C3346"/>
            </a:solidFill>
            <a:prstDash val="solid"/>
          </a:ln>
        </p:spPr>
      </p:sp>
      <p:pic>
        <p:nvPicPr>
          <p:cNvPr id="15" name="Image 2" descr="Sigmoid curv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18534" y="3843238"/>
            <a:ext cx="2921000" cy="1079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8534" y="5011638"/>
            <a:ext cx="304358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Sigmoid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618534" y="5344319"/>
            <a:ext cx="304358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7E2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/ (1 + e^−x)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18534" y="5631259"/>
            <a:ext cx="304358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0 to 1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998916" y="3633688"/>
            <a:ext cx="3373934" cy="2405162"/>
          </a:xfrm>
          <a:prstGeom prst="roundRect">
            <a:avLst>
              <a:gd name="adj" fmla="val 5016"/>
            </a:avLst>
          </a:prstGeom>
          <a:solidFill>
            <a:srgbClr val="1B2030"/>
          </a:solidFill>
          <a:ln w="12700">
            <a:solidFill>
              <a:srgbClr val="2C3346"/>
            </a:solidFill>
            <a:prstDash val="solid"/>
          </a:ln>
        </p:spPr>
      </p:sp>
      <p:pic>
        <p:nvPicPr>
          <p:cNvPr id="20" name="Image 3" descr="Tanh curv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08466" y="3843238"/>
            <a:ext cx="2921000" cy="10795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08466" y="5011638"/>
            <a:ext cx="304347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Tanh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208466" y="5344319"/>
            <a:ext cx="304347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7E2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tanh(x)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208466" y="5631259"/>
            <a:ext cx="304347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−1 to 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3 · NEURAL NETWORKS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75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Forward + Backpropagation (ML)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367161"/>
            <a:ext cx="8502650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b="1" dirty="0">
                <a:solidFill>
                  <a:srgbClr val="77E2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pass:</a:t>
            </a: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flows through the model to make a prediction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325" y="3075186"/>
            <a:ext cx="2139950" cy="933450"/>
          </a:xfrm>
          <a:prstGeom prst="roundRect">
            <a:avLst>
              <a:gd name="adj" fmla="val 12585"/>
            </a:avLst>
          </a:prstGeom>
          <a:solidFill>
            <a:srgbClr val="0B0E16"/>
          </a:solidFill>
          <a:ln w="19050">
            <a:solidFill>
              <a:srgbClr val="77E2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9650" y="3271441"/>
            <a:ext cx="1818259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9650" y="3614341"/>
            <a:ext cx="181825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22675" y="3075186"/>
            <a:ext cx="2139950" cy="933450"/>
          </a:xfrm>
          <a:prstGeom prst="roundRect">
            <a:avLst>
              <a:gd name="adj" fmla="val 12585"/>
            </a:avLst>
          </a:prstGeom>
          <a:solidFill>
            <a:srgbClr val="0B0E16"/>
          </a:solidFill>
          <a:ln w="19050">
            <a:solidFill>
              <a:srgbClr val="77E2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10000" y="3271441"/>
            <a:ext cx="1818259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810000" y="3614341"/>
            <a:ext cx="181825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layers of weights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23025" y="3075186"/>
            <a:ext cx="2139950" cy="933450"/>
          </a:xfrm>
          <a:prstGeom prst="roundRect">
            <a:avLst>
              <a:gd name="adj" fmla="val 12585"/>
            </a:avLst>
          </a:prstGeom>
          <a:solidFill>
            <a:srgbClr val="0B0E16"/>
          </a:solidFill>
          <a:ln w="19050">
            <a:solidFill>
              <a:srgbClr val="77E2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10350" y="3271441"/>
            <a:ext cx="1818259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Prediction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610350" y="3614341"/>
            <a:ext cx="181825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 risk of death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223375" y="3075186"/>
            <a:ext cx="2139950" cy="933450"/>
          </a:xfrm>
          <a:prstGeom prst="roundRect">
            <a:avLst>
              <a:gd name="adj" fmla="val 12585"/>
            </a:avLst>
          </a:prstGeom>
          <a:solidFill>
            <a:srgbClr val="0B0E16"/>
          </a:solidFill>
          <a:ln w="19050">
            <a:solidFill>
              <a:srgbClr val="E2383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0700" y="3271441"/>
            <a:ext cx="1818259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410700" y="3614341"/>
            <a:ext cx="181825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wrong was it?</a:t>
            </a:r>
            <a:endParaRPr lang="en-US" sz="1200" dirty="0"/>
          </a:p>
        </p:txBody>
      </p:sp>
      <p:pic>
        <p:nvPicPr>
          <p:cNvPr id="1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46400" y="3478411"/>
            <a:ext cx="692150" cy="127000"/>
          </a:xfrm>
          <a:prstGeom prst="rect">
            <a:avLst/>
          </a:prstGeom>
        </p:spPr>
      </p:pic>
      <p:pic>
        <p:nvPicPr>
          <p:cNvPr id="1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46750" y="3478411"/>
            <a:ext cx="692150" cy="127000"/>
          </a:xfrm>
          <a:prstGeom prst="rect">
            <a:avLst/>
          </a:prstGeom>
        </p:spPr>
      </p:pic>
      <p:pic>
        <p:nvPicPr>
          <p:cNvPr id="2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47100" y="3478411"/>
            <a:ext cx="692150" cy="127000"/>
          </a:xfrm>
          <a:prstGeom prst="rect">
            <a:avLst/>
          </a:prstGeom>
        </p:spPr>
      </p:pic>
      <p:pic>
        <p:nvPicPr>
          <p:cNvPr id="21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229850" y="3992761"/>
            <a:ext cx="127000" cy="723900"/>
          </a:xfrm>
          <a:prstGeom prst="rect">
            <a:avLst/>
          </a:prstGeom>
        </p:spPr>
      </p:pic>
      <p:pic>
        <p:nvPicPr>
          <p:cNvPr id="22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629150" y="4589661"/>
            <a:ext cx="5727700" cy="127000"/>
          </a:xfrm>
          <a:prstGeom prst="rect">
            <a:avLst/>
          </a:prstGeom>
        </p:spPr>
      </p:pic>
      <p:pic>
        <p:nvPicPr>
          <p:cNvPr id="23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29150" y="4005461"/>
            <a:ext cx="127000" cy="711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608640" y="4830961"/>
            <a:ext cx="5768721" cy="5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b="1" dirty="0">
                <a:solidFill>
                  <a:srgbClr val="FF3D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Backpropagation:</a:t>
            </a: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gradients of the loss flow back and update the weights. Then repeat.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3 · NEURAL NETWORKS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75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Multi-layer perceptron (MLP)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25500" y="3120330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4900" y="3037780"/>
            <a:ext cx="453910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Feedforward neural network architecture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500" y="358259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00" y="3500041"/>
            <a:ext cx="453910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neuron in a layer connects to every neuron in the next layer (fully connected)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5500" y="432931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4900" y="4246761"/>
            <a:ext cx="453910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basic architecture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5500" y="479157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04900" y="4709021"/>
            <a:ext cx="453910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Easiest to use/implement</a:t>
            </a:r>
            <a:endParaRPr lang="en-US" sz="1600" dirty="0"/>
          </a:p>
        </p:txBody>
      </p:sp>
      <p:pic>
        <p:nvPicPr>
          <p:cNvPr id="13" name="Image 1" descr="A multi-layer perceptron: an input layer, two hidden layers and an output layer, every neuron connected to every neuron in the next laye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1400" y="2174180"/>
            <a:ext cx="5257800" cy="3683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96000" y="5539680"/>
            <a:ext cx="939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537450" y="5539680"/>
            <a:ext cx="939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hidden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978900" y="5539680"/>
            <a:ext cx="939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hidden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420350" y="5539680"/>
            <a:ext cx="939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3 · NEURAL NETWORKS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75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Recurrent Neural Networks (RNNs)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25500" y="3067050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4900" y="2984500"/>
            <a:ext cx="453910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Were primarily used for sequential data: text, speech, time-series and forecasting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500" y="3813770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00" y="3731220"/>
            <a:ext cx="453910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a sequence one step at a time, carrying a hidden state (memory) forward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5500" y="456049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4900" y="4477941"/>
            <a:ext cx="453910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transformer models have largely replaced them because of parallelization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30925" y="3231455"/>
            <a:ext cx="933450" cy="679450"/>
          </a:xfrm>
          <a:prstGeom prst="roundRect">
            <a:avLst>
              <a:gd name="adj" fmla="val 15421"/>
            </a:avLst>
          </a:prstGeom>
          <a:solidFill>
            <a:srgbClr val="0B0E16"/>
          </a:solidFill>
          <a:ln w="19050">
            <a:solidFill>
              <a:srgbClr val="77E2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4627" y="3428901"/>
            <a:ext cx="476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RNN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566025" y="3231455"/>
            <a:ext cx="933450" cy="679450"/>
          </a:xfrm>
          <a:prstGeom prst="roundRect">
            <a:avLst>
              <a:gd name="adj" fmla="val 15421"/>
            </a:avLst>
          </a:prstGeom>
          <a:solidFill>
            <a:srgbClr val="0B0E16"/>
          </a:solidFill>
          <a:ln w="19050">
            <a:solidFill>
              <a:srgbClr val="77E2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9727" y="3428901"/>
            <a:ext cx="476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RNN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001125" y="3231455"/>
            <a:ext cx="933450" cy="679450"/>
          </a:xfrm>
          <a:prstGeom prst="roundRect">
            <a:avLst>
              <a:gd name="adj" fmla="val 15421"/>
            </a:avLst>
          </a:prstGeom>
          <a:solidFill>
            <a:srgbClr val="0B0E16"/>
          </a:solidFill>
          <a:ln w="19050">
            <a:solidFill>
              <a:srgbClr val="77E2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54827" y="3428901"/>
            <a:ext cx="476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RNN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436225" y="3231455"/>
            <a:ext cx="933450" cy="679450"/>
          </a:xfrm>
          <a:prstGeom prst="roundRect">
            <a:avLst>
              <a:gd name="adj" fmla="val 15421"/>
            </a:avLst>
          </a:prstGeom>
          <a:solidFill>
            <a:srgbClr val="0B0E16"/>
          </a:solidFill>
          <a:ln w="19050">
            <a:solidFill>
              <a:srgbClr val="77E2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89927" y="3428901"/>
            <a:ext cx="476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RNN</a:t>
            </a:r>
            <a:endParaRPr lang="en-US" sz="1600" dirty="0"/>
          </a:p>
        </p:txBody>
      </p:sp>
      <p:pic>
        <p:nvPicPr>
          <p:cNvPr id="1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35800" y="3507680"/>
            <a:ext cx="558800" cy="127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99300" y="3190180"/>
            <a:ext cx="431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h1</a:t>
            </a:r>
            <a:endParaRPr lang="en-US" sz="1200" dirty="0"/>
          </a:p>
        </p:txBody>
      </p:sp>
      <p:pic>
        <p:nvPicPr>
          <p:cNvPr id="2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70900" y="3507680"/>
            <a:ext cx="558800" cy="127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34400" y="3190180"/>
            <a:ext cx="431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h2</a:t>
            </a:r>
            <a:endParaRPr lang="en-US" sz="1200" dirty="0"/>
          </a:p>
        </p:txBody>
      </p:sp>
      <p:pic>
        <p:nvPicPr>
          <p:cNvPr id="23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06000" y="3507680"/>
            <a:ext cx="558800" cy="1270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969500" y="3190180"/>
            <a:ext cx="431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h3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235700" y="4434780"/>
            <a:ext cx="723900" cy="343892"/>
          </a:xfrm>
          <a:prstGeom prst="roundRect">
            <a:avLst>
              <a:gd name="adj" fmla="val 20312"/>
            </a:avLst>
          </a:prstGeom>
          <a:noFill/>
          <a:ln w="12700">
            <a:solidFill>
              <a:srgbClr val="3A435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216650" y="4441130"/>
            <a:ext cx="76200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8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endParaRPr lang="en-US" sz="1600" dirty="0"/>
          </a:p>
        </p:txBody>
      </p:sp>
      <p:pic>
        <p:nvPicPr>
          <p:cNvPr id="27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46850" y="3907730"/>
            <a:ext cx="101600" cy="5461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27750" y="4885630"/>
            <a:ext cx="939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1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670800" y="4434780"/>
            <a:ext cx="723900" cy="343892"/>
          </a:xfrm>
          <a:prstGeom prst="roundRect">
            <a:avLst>
              <a:gd name="adj" fmla="val 20312"/>
            </a:avLst>
          </a:prstGeom>
          <a:noFill/>
          <a:ln w="12700">
            <a:solidFill>
              <a:srgbClr val="3A435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651750" y="4441130"/>
            <a:ext cx="76200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8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</a:t>
            </a:r>
            <a:endParaRPr lang="en-US" sz="1600" dirty="0"/>
          </a:p>
        </p:txBody>
      </p:sp>
      <p:pic>
        <p:nvPicPr>
          <p:cNvPr id="31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81950" y="3907730"/>
            <a:ext cx="101600" cy="5461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62850" y="4885630"/>
            <a:ext cx="939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2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9105900" y="4434780"/>
            <a:ext cx="723900" cy="343892"/>
          </a:xfrm>
          <a:prstGeom prst="roundRect">
            <a:avLst>
              <a:gd name="adj" fmla="val 20312"/>
            </a:avLst>
          </a:prstGeom>
          <a:noFill/>
          <a:ln w="12700">
            <a:solidFill>
              <a:srgbClr val="3A4358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9086850" y="4441130"/>
            <a:ext cx="76200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8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</a:t>
            </a:r>
            <a:endParaRPr lang="en-US" sz="1600" dirty="0"/>
          </a:p>
        </p:txBody>
      </p:sp>
      <p:pic>
        <p:nvPicPr>
          <p:cNvPr id="35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417050" y="3907730"/>
            <a:ext cx="101600" cy="5461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997950" y="4885630"/>
            <a:ext cx="939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3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10541000" y="4434780"/>
            <a:ext cx="723900" cy="343892"/>
          </a:xfrm>
          <a:prstGeom prst="roundRect">
            <a:avLst>
              <a:gd name="adj" fmla="val 20312"/>
            </a:avLst>
          </a:prstGeom>
          <a:noFill/>
          <a:ln w="12700">
            <a:solidFill>
              <a:srgbClr val="3A4358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10521950" y="4441130"/>
            <a:ext cx="76200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8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</a:t>
            </a:r>
            <a:endParaRPr lang="en-US" sz="1600" dirty="0"/>
          </a:p>
        </p:txBody>
      </p:sp>
      <p:pic>
        <p:nvPicPr>
          <p:cNvPr id="39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852150" y="3907730"/>
            <a:ext cx="101600" cy="5461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0433050" y="4885630"/>
            <a:ext cx="939800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4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6121400" y="2523430"/>
            <a:ext cx="5415534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 = hidden state, carried to the next step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3 · NEURAL NETWORKS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75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Convolutional Neural Networks (CNNs)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25500" y="206871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4900" y="1986161"/>
            <a:ext cx="1058252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Primarily used today for Computer Vision problems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500" y="248017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00" y="2397621"/>
            <a:ext cx="1058252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convolution operation with pooling, stride, etc. to extract features from an image (RGB)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5500" y="2891631"/>
            <a:ext cx="114300" cy="1143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238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4900" y="2809081"/>
            <a:ext cx="1058252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ML, learns the features and patterns of the data for prediction/classification in images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97000" y="4761309"/>
            <a:ext cx="952500" cy="9525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2383F"/>
              </a:gs>
              <a:gs pos="55000">
                <a:srgbClr val="6344F5"/>
              </a:gs>
              <a:gs pos="100000">
                <a:srgbClr val="77E2F8"/>
              </a:gs>
            </a:gsLst>
            <a:lin ang="2700000" scaled="0"/>
          </a:gradFill>
          <a:ln/>
        </p:spPr>
      </p:sp>
      <p:sp>
        <p:nvSpPr>
          <p:cNvPr id="12" name="Text 9"/>
          <p:cNvSpPr/>
          <p:nvPr/>
        </p:nvSpPr>
        <p:spPr>
          <a:xfrm>
            <a:off x="1395909" y="5847159"/>
            <a:ext cx="95468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(RGB)</a:t>
            </a:r>
            <a:endParaRPr lang="en-US" sz="1200" dirty="0"/>
          </a:p>
        </p:txBody>
      </p:sp>
      <p:pic>
        <p:nvPicPr>
          <p:cNvPr id="13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5400" y="5186759"/>
            <a:ext cx="304800" cy="101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165475" y="4840684"/>
            <a:ext cx="793750" cy="793750"/>
          </a:xfrm>
          <a:prstGeom prst="roundRect">
            <a:avLst>
              <a:gd name="adj" fmla="val 6800"/>
            </a:avLst>
          </a:prstGeom>
          <a:solidFill>
            <a:srgbClr val="1C3240"/>
          </a:solidFill>
          <a:ln w="19050">
            <a:solidFill>
              <a:srgbClr val="77E2F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119140" y="5847159"/>
            <a:ext cx="88632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convolution</a:t>
            </a:r>
            <a:endParaRPr lang="en-US" sz="1200" dirty="0"/>
          </a:p>
        </p:txBody>
      </p:sp>
      <p:pic>
        <p:nvPicPr>
          <p:cNvPr id="1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54500" y="5186759"/>
            <a:ext cx="304800" cy="101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968875" y="4954984"/>
            <a:ext cx="565150" cy="565150"/>
          </a:xfrm>
          <a:prstGeom prst="roundRect">
            <a:avLst>
              <a:gd name="adj" fmla="val 9551"/>
            </a:avLst>
          </a:prstGeom>
          <a:solidFill>
            <a:srgbClr val="1C3240"/>
          </a:solidFill>
          <a:ln w="19050">
            <a:solidFill>
              <a:srgbClr val="77E2F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959350" y="5847159"/>
            <a:ext cx="5842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pooling</a:t>
            </a:r>
            <a:endParaRPr lang="en-US" sz="1200" dirty="0"/>
          </a:p>
        </p:txBody>
      </p:sp>
      <p:pic>
        <p:nvPicPr>
          <p:cNvPr id="19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43600" y="5186759"/>
            <a:ext cx="304800" cy="1016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759575" y="5056584"/>
            <a:ext cx="361950" cy="361950"/>
          </a:xfrm>
          <a:prstGeom prst="roundRect">
            <a:avLst>
              <a:gd name="adj" fmla="val 14912"/>
            </a:avLst>
          </a:prstGeom>
          <a:solidFill>
            <a:srgbClr val="1C3240"/>
          </a:solidFill>
          <a:ln w="19050">
            <a:solidFill>
              <a:srgbClr val="77E2F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89402" y="5847159"/>
            <a:ext cx="90229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 + pool</a:t>
            </a:r>
            <a:endParaRPr lang="en-US" sz="1200" dirty="0"/>
          </a:p>
        </p:txBody>
      </p:sp>
      <p:pic>
        <p:nvPicPr>
          <p:cNvPr id="22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32700" y="5186759"/>
            <a:ext cx="304800" cy="1016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8543925" y="4770834"/>
            <a:ext cx="171450" cy="933450"/>
          </a:xfrm>
          <a:prstGeom prst="roundRect">
            <a:avLst>
              <a:gd name="adj" fmla="val 24074"/>
            </a:avLst>
          </a:prstGeom>
          <a:solidFill>
            <a:srgbClr val="1C3240"/>
          </a:solidFill>
          <a:ln w="19050">
            <a:solidFill>
              <a:srgbClr val="77E2F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8187432" y="5847159"/>
            <a:ext cx="88433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layer</a:t>
            </a:r>
            <a:endParaRPr lang="en-US" sz="1200" dirty="0"/>
          </a:p>
        </p:txBody>
      </p:sp>
      <p:pic>
        <p:nvPicPr>
          <p:cNvPr id="25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321800" y="5186759"/>
            <a:ext cx="304800" cy="1016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993511" y="5006380"/>
            <a:ext cx="650478" cy="462260"/>
          </a:xfrm>
          <a:prstGeom prst="roundRect">
            <a:avLst>
              <a:gd name="adj" fmla="val 19232"/>
            </a:avLst>
          </a:prstGeom>
          <a:solidFill>
            <a:srgbClr val="A90F14"/>
          </a:solidFill>
          <a:ln/>
        </p:spPr>
      </p:sp>
      <p:sp>
        <p:nvSpPr>
          <p:cNvPr id="27" name="Text 19"/>
          <p:cNvSpPr/>
          <p:nvPr/>
        </p:nvSpPr>
        <p:spPr>
          <a:xfrm>
            <a:off x="10158611" y="5095280"/>
            <a:ext cx="37107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9932095" y="5847159"/>
            <a:ext cx="77331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80846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 03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227578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150" kern="0" dirty="0">
                <a:solidFill>
                  <a:srgbClr val="F8FA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3rd demo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3329880"/>
            <a:ext cx="85026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D7D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Neural networks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19150" y="3920430"/>
            <a:ext cx="6972300" cy="1122660"/>
          </a:xfrm>
          <a:prstGeom prst="roundRect">
            <a:avLst>
              <a:gd name="adj" fmla="val 13009"/>
            </a:avLst>
          </a:prstGeom>
          <a:solidFill>
            <a:srgbClr val="0B0E16"/>
          </a:solidFill>
          <a:ln w="12700">
            <a:solidFill>
              <a:srgbClr val="262D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5500" y="4314130"/>
            <a:ext cx="6959600" cy="0"/>
          </a:xfrm>
          <a:prstGeom prst="line">
            <a:avLst/>
          </a:prstGeom>
          <a:noFill/>
          <a:ln w="12700">
            <a:solidFill>
              <a:srgbClr val="262D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28700" y="406648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E2383F"/>
          </a:solidFill>
          <a:ln/>
        </p:spPr>
      </p:sp>
      <p:sp>
        <p:nvSpPr>
          <p:cNvPr id="9" name="Shape 6"/>
          <p:cNvSpPr/>
          <p:nvPr/>
        </p:nvSpPr>
        <p:spPr>
          <a:xfrm>
            <a:off x="1206500" y="406648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A4358"/>
          </a:solidFill>
          <a:ln/>
        </p:spPr>
      </p:sp>
      <p:sp>
        <p:nvSpPr>
          <p:cNvPr id="10" name="Shape 7"/>
          <p:cNvSpPr/>
          <p:nvPr/>
        </p:nvSpPr>
        <p:spPr>
          <a:xfrm>
            <a:off x="1384300" y="406648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A4358"/>
          </a:solidFill>
          <a:ln/>
        </p:spPr>
      </p:sp>
      <p:sp>
        <p:nvSpPr>
          <p:cNvPr id="11" name="Text 8"/>
          <p:cNvSpPr/>
          <p:nvPr/>
        </p:nvSpPr>
        <p:spPr>
          <a:xfrm>
            <a:off x="1079500" y="453638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3D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341140" y="4557911"/>
            <a:ext cx="114300" cy="241300"/>
          </a:xfrm>
          <a:prstGeom prst="rect">
            <a:avLst/>
          </a:prstGeom>
          <a:solidFill>
            <a:srgbClr val="E2383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Machine Learning - HTHIII</dc:title>
  <dc:subject>PptxGenJS Presentation</dc:subject>
  <dc:creator>PptxGenJS</dc:creator>
  <cp:lastModifiedBy>PptxGenJS</cp:lastModifiedBy>
  <cp:revision>1</cp:revision>
  <dcterms:created xsi:type="dcterms:W3CDTF">2026-09-26T17:53:56Z</dcterms:created>
  <dcterms:modified xsi:type="dcterms:W3CDTF">2026-09-26T17:53:56Z</dcterms:modified>
</cp:coreProperties>
</file>